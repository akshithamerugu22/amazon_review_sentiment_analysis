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1295C"/>
                </a:solidFill>
                <a:latin typeface="Arial"/>
              </a:rPr>
              <a:t>Class distribution (295,244 labeled reviews)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2E9E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50-4594-B078-833C8B961EB3}"/>
              </c:ext>
            </c:extLst>
          </c:dPt>
          <c:dPt>
            <c:idx val="1"/>
            <c:invertIfNegative val="0"/>
            <c:bubble3D val="0"/>
            <c:spPr>
              <a:solidFill>
                <a:srgbClr val="C144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50-4594-B078-833C8B961EB3}"/>
              </c:ext>
            </c:extLst>
          </c:dPt>
          <c:dPt>
            <c:idx val="2"/>
            <c:invertIfNegative val="0"/>
            <c:bubble3D val="0"/>
            <c:spPr>
              <a:solidFill>
                <a:srgbClr val="D89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50-4594-B078-833C8B961E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229361</c:v>
                </c:pt>
                <c:pt idx="1">
                  <c:v>43047</c:v>
                </c:pt>
                <c:pt idx="2">
                  <c:v>22836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50-4594-B078-833C8B961E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3078049890302"/>
          <c:y val="0.17510452074638211"/>
          <c:w val="0.9249305765247291"/>
          <c:h val="0.6617063849005374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DA-4722-BF99-73F8325280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DA-4722-BF99-73F8325280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DA-4722-BF99-73F832528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42974847"/>
        <c:axId val="1829707439"/>
      </c:lineChart>
      <c:catAx>
        <c:axId val="1742974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29707439"/>
        <c:crosses val="autoZero"/>
        <c:auto val="1"/>
        <c:lblAlgn val="ctr"/>
        <c:lblOffset val="100"/>
        <c:noMultiLvlLbl val="0"/>
      </c:catAx>
      <c:valAx>
        <c:axId val="182970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974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23421783259752"/>
          <c:y val="0.24035054643727197"/>
          <c:w val="0.82024577852623914"/>
          <c:h val="0.5576489322592378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94-400C-AA81-FFA31DE6F7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94-400C-AA81-FFA31DE6F7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94-400C-AA81-FFA31DE6F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29044735"/>
        <c:axId val="1829698799"/>
      </c:barChart>
      <c:catAx>
        <c:axId val="18290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29698799"/>
        <c:crosses val="autoZero"/>
        <c:auto val="1"/>
        <c:lblAlgn val="ctr"/>
        <c:lblOffset val="100"/>
        <c:noMultiLvlLbl val="0"/>
      </c:catAx>
      <c:valAx>
        <c:axId val="1829698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90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0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Review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review data to a machine-learning sentiment model, SQL analysis, and a live Power BI dashboard.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F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NLTK, scikit-learn)   •   MySQL   •   Power BI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295,272 raw reviews  →  ~295K cleaned  →  6,262-row dashboard sample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disciplines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explore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46120" y="26060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2103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+ 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Preprocess, vectorize,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6E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business questions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98280" y="26060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18320" y="2103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554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55480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the full analytics lifecycle a business actually needs: turning unstructured text into a labeled dataset, building a model that scales sentiment tagging beyond manual review, validating findings with SQL, and delivering insights through a dashboard non-technical stakeholders can use.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sentiment analysis?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collect thousands of product reviews but can't read them all manually. The goal: automatically classify each review as Positive, Neutral, or Negative, then surface which products, years, and users drive satisfaction or complaints.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791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reviews are positive vs. negative overall?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best-loved — and which draw the most complaints?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813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customer satisfaction improving or declining year over year?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3799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trained model classify sentiment as reliably as the rating-based label?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Amazon Fine Food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295,272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 loaded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review IDs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1999–2012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 range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fields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/ UserId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95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and reviewers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(1–5)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995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— basis for sentiment label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title and full body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7731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timestamp → converted to datetime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HelpfulnessNumerator / Denominator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550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 this helpful” vote counts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exploratory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6184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dropped missing values (nulls in Summary/ProfileName)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128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no duplicate review IDs; confirmed row uniqueness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8072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removed inconsistent rows where HelpfulnessNumerator &gt; HelpfulnessDenominator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4015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Time from Unix timestamp to a proper datetime, extracted Year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9959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from Text, Summary, ProfileName; dropped empty review text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590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Review_Length (character count) for distribution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1846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rating distribution, review-length histogram, and average score trend by year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sentiment labeling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620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4: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 = "Positive"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== 3: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 = "Neutral"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 = "Negative"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review's Score column to create a ground-truth label — this label is later used as the target the ML model learns to predict from text alone.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309360" y="16459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 Positive  ·  14.6% Negative  ·  7.7% Neutral — a strongly imbalanced dataset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text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836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Lowercase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2677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casing across all reviews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8836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HTML &amp; URLs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95160" y="22677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removes markup and links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punctuation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850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alphabetic characters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3009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6850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words (NLTK)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7183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stopwords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102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common low-signal words ("the", "is"...)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7183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Lemmatize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95160" y="5102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root form ("running" → "run")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TF-IDF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need numbers, not words. TF-IDF (Term Frequency – Inverse Document Frequency) converts each cleaned review into a vector where each dimension is a word, weighted by how important that word is to that review relative to the whole corpus.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1620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sklearn.feature_extraction.text \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TfidfVectorizer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tfidf.fit_transform(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df['Processed_Text']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72200" y="28346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over simple word counts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32918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Down-weights very common words that appear in almost every review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38587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Up-weights distinctive words that carry real sentiment signal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4425696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a sparse matrix that scales well to hundreds of thousands of reviews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Logistic Regression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 / 20 train-test split (random_state = 42)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140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TF-IDF vectors  |  Target: sentiment label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LogisticRegression(max_iter=1000)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set: 59,049 reviews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840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57400"/>
          <a:ext cx="548640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1264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0" y="4023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mirrors the class imbalance in the data: it predicts Positive reviews very reliably, but Neutral reviews — the smallest and least distinct class — are the hardest to catch (only 20% recall).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 for the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limited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imbalance (77.7% Positive) biases the model toward predicting Positive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Neutral reviews often use mixed or subtle language, closer to a 3-star “it's OK” — hard to separate linguistically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+ Logistic Regression is fast and interpretable, but ignores word order and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try next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imbalance: class weighting, oversampling (SMOTE), or undersampling the Positive class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richer embeddings (word2vec, or a fine-tuned transformer like BERT) to capture context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3977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 confusion-matrix-aware metric like macro F1, not just accuracy, given the imbalance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9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 volume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1305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1305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sentiment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review count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5478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most-reviewed products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35478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Highest-rated products (≥10 reviews)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636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965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Highest-rated year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452628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4636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965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most negative reviews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452628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0" y="4636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965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users giving positive reviews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MySQL against the cleaned, pipe-delimited export (cleaned_pipe.csv) — these queries are the direct source for every KPI and chart in the dashboard.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 in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two-page interactive dashboard turns the SQL answers into something a non-technical stakeholder can explore themselves — filter by year, sentiment, or score, and drill into any single product.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596640" y="2971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96641" y="3054927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96642" y="3595255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KPIs, sentiment mix, trends, top/bottom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971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34747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 Year   |   Sentiment   |   Score   |   Product 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6,262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761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2761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Positive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228600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15400" y="2761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Negative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(donut)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2E9E6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34290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Review Count (line)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102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Reviewed Products (bar chart, Top N filter)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172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1722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 Products (table)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6172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61722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Reviews (bar)</a:t>
            </a:r>
            <a:endParaRPr lang="en-US" sz="1050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7E416ABE-4DD4-0B0A-2427-A0A93A2EE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353824"/>
              </p:ext>
            </p:extLst>
          </p:nvPr>
        </p:nvGraphicFramePr>
        <p:xfrm>
          <a:off x="8352213" y="3566160"/>
          <a:ext cx="2254827" cy="1322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FDD9FC4E-C154-EEAB-56E1-A308C2C7C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49529"/>
              </p:ext>
            </p:extLst>
          </p:nvPr>
        </p:nvGraphicFramePr>
        <p:xfrm>
          <a:off x="4249420" y="4905756"/>
          <a:ext cx="4801062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922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276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 in 5 reviews are positive (77.7%) — overall sentiment skews strongly favorable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(14.6%) still represent tens of thousands of reviews worth investigating per-product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products account for a disproportionate share of negative feedback — clear targets for quality review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15137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Regression model reaches 86.8% accuracy, reliable enough to automate first-pass sentiment tagging at scale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99262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 are the hardest to classify — both for the model and, arguably, for a quick human 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66160" y="1737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 for cleaning and EDA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NLTK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25146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 removal, lemmatization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291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vectorization, Logistic Regression, evaluation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Business-question queries on the cleaned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4846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interactive slicers, drill-through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Sentiment Analysis — Project Walkthrough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a live decision-making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covers the full analytics stack: data cleaning, NLP preprocessing, a trained sentiment classifier, SQL business analysis, and an interactive Power BI dashboard — end to end, by one person.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F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part in more depth.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1428</Words>
  <Application>Microsoft Office PowerPoint</Application>
  <PresentationFormat>Widescreen</PresentationFormat>
  <Paragraphs>253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Review Sentiment Analysis — Full Project Walkthrough</dc:title>
  <dc:subject>PptxGenJS Presentation</dc:subject>
  <dc:creator>Sentiment Analysis Project</dc:creator>
  <cp:lastModifiedBy>Akshitha Merugu</cp:lastModifiedBy>
  <cp:revision>2</cp:revision>
  <dcterms:created xsi:type="dcterms:W3CDTF">2026-07-04T09:04:12Z</dcterms:created>
  <dcterms:modified xsi:type="dcterms:W3CDTF">2026-07-04T09:15:59Z</dcterms:modified>
</cp:coreProperties>
</file>